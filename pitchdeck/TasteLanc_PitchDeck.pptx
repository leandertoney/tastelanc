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stelanc_new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847" y="548640"/>
            <a:ext cx="2286000" cy="2286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937760" y="3200400"/>
            <a:ext cx="2286000" cy="50800"/>
          </a:xfrm>
          <a:prstGeom prst="rect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Eat. Drink.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  <a:latin typeface="Calibri"/>
              </a:defRPr>
            </a:pPr>
            <a:r>
              <a:t>Lancaster's go-to for what's happening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tastelanc.com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WHAT IS TASTELANC?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TasteLanc is the hyper-local discovery platform for restaurants, happy hours, events, and nightlife — powered by AI and community voting.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•  Mobile app (iOS, live on App Store) + responsive web platform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•  AI concierge (“Rosie”) gives personalized recommendations from real local data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•  Community voting crowns “Best Of” winners across 8 categories each month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•  Restaurant owners get a full SaaS dashboard (menus, events, specials, analytics)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•  Multi-market architecture live in 2 Pennsylvania markets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99999"/>
                </a:solidFill>
                <a:latin typeface="Calibri"/>
              </a:defRPr>
            </a:pPr>
            <a:r>
              <a:t>Sound familiar?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Happy hours scattered across apps.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No single source for what’s on right 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Events you hear about too late.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4747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By the time you find out, it’s sold out or 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37744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Deals buried in your feed.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4747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Social media algorithms hide the local spots that matter.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There is no Yelp for “what’s happening tonight.” Google Maps shows hours and reviews — not happy hour specials, live music lineups, or weekly deals. Locals piece together Instagram stories, Facebook events, and word-of-mouth. Visitors are completely lost.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single source of truth for your local food &amp; nightlife scene.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41E22"/>
                </a:solidFill>
                <a:latin typeface="Calibri"/>
              </a:defRPr>
            </a:pPr>
            <a:r>
              <a:t>AI Concierge (Rosie)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0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Personalized recs from real restaurant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423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41E22"/>
                </a:solidFill>
                <a:latin typeface="Calibri"/>
              </a:defRPr>
            </a:pPr>
            <a:r>
              <a:t>Happy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880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Real-time deals with item-level pricing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423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41E22"/>
                </a:solidFill>
                <a:latin typeface="Calibri"/>
              </a:defRPr>
            </a:pPr>
            <a:r>
              <a:t>Events 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880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Live music, trivia, comedy, DJ nights &amp; more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861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41E22"/>
                </a:solidFill>
                <a:latin typeface="Calibri"/>
              </a:defRPr>
            </a:pPr>
            <a:r>
              <a:t>Community Voting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433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8 monthly categories, 4 votes/user/month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749039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8861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41E22"/>
                </a:solidFill>
                <a:latin typeface="Calibri"/>
              </a:defRPr>
            </a:pPr>
            <a:r>
              <a:t>Rewards &amp; Loyalty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3433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Points for check-ins, reviews, photos, referrals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749039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8861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41E22"/>
                </a:solidFill>
                <a:latin typeface="Calibri"/>
              </a:defRPr>
            </a:pPr>
            <a:r>
              <a:t>Itinerary Builder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3433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AI-generated day plans with walk-time estimates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1208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349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41E22"/>
                </a:solidFill>
                <a:latin typeface="Calibri"/>
              </a:defRPr>
            </a:pPr>
            <a:r>
              <a:t>Geofence 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806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Neighborhood-entry alerts &amp; check-in prompts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521208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5349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41E22"/>
                </a:solidFill>
                <a:latin typeface="Calibri"/>
              </a:defRPr>
            </a:pPr>
            <a:r>
              <a:t>Map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806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Clustered pins, category filters, distance sorting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21208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5349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41E22"/>
                </a:solidFill>
                <a:latin typeface="Calibri"/>
              </a:defRPr>
            </a:pPr>
            <a:r>
              <a:t>Weekly Specials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5806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Owner-managed deals updated from the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Live on the iOS App Store</a:t>
            </a:r>
          </a:p>
        </p:txBody>
      </p:sp>
      <p:pic>
        <p:nvPicPr>
          <p:cNvPr id="5" name="Picture 4" descr="framed_6.5_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96663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Home Feed</a:t>
            </a:r>
          </a:p>
        </p:txBody>
      </p:sp>
      <p:pic>
        <p:nvPicPr>
          <p:cNvPr id="7" name="Picture 6" descr="framed_6.5_02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899" y="1920240"/>
            <a:ext cx="196663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46899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Map Search</a:t>
            </a:r>
          </a:p>
        </p:txBody>
      </p:sp>
      <p:pic>
        <p:nvPicPr>
          <p:cNvPr id="9" name="Picture 8" descr="framed_6.5_03_rosie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598" y="1920240"/>
            <a:ext cx="196663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36598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Rosie AI</a:t>
            </a:r>
          </a:p>
        </p:txBody>
      </p:sp>
      <p:pic>
        <p:nvPicPr>
          <p:cNvPr id="11" name="Picture 10" descr="framed_6.5_04_happy_hou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297" y="1920240"/>
            <a:ext cx="1966630" cy="4206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297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Happy Hours</a:t>
            </a:r>
          </a:p>
        </p:txBody>
      </p:sp>
      <p:pic>
        <p:nvPicPr>
          <p:cNvPr id="13" name="Picture 12" descr="framed_6.5_05_det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5996" y="1920240"/>
            <a:ext cx="1966630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15996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Restaurant Detail</a:t>
            </a:r>
          </a:p>
        </p:txBody>
      </p:sp>
      <p:pic>
        <p:nvPicPr>
          <p:cNvPr id="15" name="Picture 14" descr="framed_6.5_06_vot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5695" y="1920240"/>
            <a:ext cx="1966630" cy="4206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05695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Voting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Three-Sided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41E22"/>
                </a:solidFill>
                <a:latin typeface="Calibri"/>
              </a:defRPr>
            </a:pPr>
            <a:r>
              <a:t>CONSUMERS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Free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Discover restaurants &amp; nightlife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Vote in 8 monthly categories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Earn rewards via check-ins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Chat with Rosie AI concierge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10312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41E22"/>
                </a:solidFill>
                <a:latin typeface="Calibri"/>
              </a:defRPr>
            </a:pPr>
            <a:r>
              <a:t>RESTAURANT OWNERS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SaaS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017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Manage menus &amp; photos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Post events &amp; entertainment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Set happy hours &amp; specials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Track analytics &amp;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10312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41E22"/>
                </a:solidFill>
                <a:latin typeface="Calibri"/>
              </a:defRPr>
            </a:pPr>
            <a:r>
              <a:t>SALES REPS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CRM + Commission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3017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Full lead management CRM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AI-generated outreach emails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15–20% commission structure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Multi-restaurant cart checkout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Ingest (OutScraper CSV)  →  Enrich (Google Places API)  →  Activate (Sales Onboarding)  →  Engage (Push / AI Blog / Email)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Five Revenue Streams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240280"/>
            <a:ext cx="457200" cy="457200"/>
          </a:xfrm>
          <a:prstGeom prst="ellipse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Restaurant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87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3 tiers × 3 billing durations via Stripe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$250–$1,100/term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2240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C759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108960"/>
            <a:ext cx="457200" cy="457200"/>
          </a:xfrm>
          <a:prstGeom prst="ellipse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Consumer 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55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2.5x rewards, ad-free, premium voting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$1.99–$29/yr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108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C759"/>
                </a:solidFill>
                <a:latin typeface="Calibri"/>
              </a:defRPr>
            </a:pPr>
            <a:r>
              <a:t>LIVE*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79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3977639"/>
            <a:ext cx="457200" cy="457200"/>
          </a:xfrm>
          <a:prstGeom prst="ellipse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319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Self-Promoter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2452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DJs, musicians, performers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9319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$50/month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9776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C759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09159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" y="4846319"/>
            <a:ext cx="457200" cy="457200"/>
          </a:xfrm>
          <a:prstGeom prst="ellipse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8005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Sponsored 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09320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Impression/click tracked, admin-managed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80059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TBD pricing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8463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C759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57784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40" y="5715000"/>
            <a:ext cx="457200" cy="457200"/>
          </a:xfrm>
          <a:prstGeom prst="ellipse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669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Volume Discounts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961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Multi-location restaurant groups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669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10–20% 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5715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C759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* Consumer premium currently free for all users during launch phase. RevenueCat integrated but unlocked.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PRICING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Restaurant Plans (B2B SaaS)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99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99999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Hours display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Location on map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Cover photo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01168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2194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$250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/3mo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$450/6mo  ·  $800/yr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3832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A41E22"/>
                </a:solidFill>
                <a:latin typeface="Calibri"/>
              </a:defRPr>
            </a:pPr>
            <a:r>
              <a:t>✓  Everything in Basic +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Full menu management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Consumer analytics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Specials &amp; happy hours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Events &amp; entertainment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Push notifications (4/mo)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201168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A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2194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ELITE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Calibri"/>
              </a:defRPr>
            </a:pPr>
            <a:r>
              <a:t>$350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399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/3mo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$600/6mo  ·  $1,100/yr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33832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Everything in Premium +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Logo on map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Daily special list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Social media content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Event &amp; music spotlights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Advanced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Consumer: $1.99/mo early access ($4.99 standard)  ·  Self-Promoter: $50/mo  ·  Volume: 10–20% off for multi-location groups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DEFENSIBILITY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Five Layers of Moat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84832"/>
            <a:ext cx="182880" cy="182880"/>
          </a:xfrm>
          <a:prstGeom prst="ellipse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Local Network Effects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Community voting (8 categories, monthly leaderboards) creates engagement loops. Restaurants promote the app to improve rankings → more consumers vote → richer data.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999232"/>
            <a:ext cx="182880" cy="182880"/>
          </a:xfrm>
          <a:prstGeom prst="ellipse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Proprietary First-Party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Custom analytics on Supabase: impressions, clicks, check-ins, area visits, conversion funnels. No dependency on third-party analytics.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913632"/>
            <a:ext cx="182880" cy="182880"/>
          </a:xfrm>
          <a:prstGeom prst="ellipse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Knowledge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Rosie is trained on market-specific local knowledge — neighborhood guides, food scene descriptions, local culture. Can’t be replicated by generic AI.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28032"/>
            <a:ext cx="182880" cy="182880"/>
          </a:xfrm>
          <a:prstGeom prst="ellipse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Geofence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Radar SDK geofences for restaurants and neighborhoods power automatic check-in prompts and area-entry notifications.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742432"/>
            <a:ext cx="182880" cy="182880"/>
          </a:xfrm>
          <a:prstGeom prst="ellipse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623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Operational Moat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Full sales CRM with AI email generation, commission-based field team, and multi-step lead nurturing. Expensive for competitors to replicate.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Current (Verified in Code)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 Direct sales team with built-in CRM &amp; AI email generation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 15–20% commission structure with tiered bonuses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 iOS App Store live (ASC ID: 6755852717)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 15+ screen onboarding funnel feeds AI personalization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 Push notifications via Expo + geofence area alerts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 AI-generated blog (Rosie’s Blog) + email via Resend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 SEO: sitemaps for restaurants, events, happy hours, blog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•  Referral rewards: 20 pts per referral (highest action 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99999"/>
                </a:solidFill>
                <a:latin typeface="Calibri"/>
              </a:defRPr>
            </a:pPr>
            <a:r>
              <a:t>Strategy (Proposal)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•  Influencer partnerships with local food bloggers</a:t>
            </a:r>
          </a:p>
          <a:p>
            <a:pPr>
              <a:spcBef>
                <a:spcPts val="6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•  Restaurant-as-distribution: co-branded table cards &amp; QR codes</a:t>
            </a:r>
          </a:p>
          <a:p>
            <a:pPr>
              <a:spcBef>
                <a:spcPts val="6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•  University campus ambassador program</a:t>
            </a:r>
          </a:p>
          <a:p>
            <a:pPr>
              <a:spcBef>
                <a:spcPts val="6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•  Local event sponsorships for brand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60A"/>
                </a:solidFill>
                <a:latin typeface="Calibri"/>
              </a:defRPr>
            </a:pPr>
            <a:r>
              <a:t>⚠  Proposals — not yet implemented in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EXPANSION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Multi-market architecture is live. Expansion is automated.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Live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Lancaster, 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iOS App Store +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560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C759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Cumberland County, 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iOS TestFlight +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60A"/>
                </a:solidFill>
                <a:latin typeface="Calibri"/>
              </a:defRPr>
            </a:pPr>
            <a:r>
              <a:t>BETA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Expansion Agent (Runs Every 2 Hours)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41E22"/>
                </a:solidFill>
                <a:latin typeface="Calibri"/>
              </a:defRPr>
            </a:pPr>
            <a:r>
              <a:t>Suggest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Proposes cities if pipeline &lt; 20 entries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4389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41E22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19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Census, BEA, OpenStreetMap, College Scorecard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389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41E22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Weighted model: dining, population, competition, college, income, tourism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41E22"/>
                </a:solidFill>
                <a:latin typeface="Calibri"/>
              </a:defRPr>
            </a:pPr>
            <a:r>
              <a:t>Brand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AI generates 3 proposals per city: name, colors, mascot, tagline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41E22"/>
                </a:solidFill>
                <a:latin typeface="Calibri"/>
              </a:defRPr>
            </a:pPr>
            <a:r>
              <a:t>Jobs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19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Creates draft listings: sales rep, market mgr, content, community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41E22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Founders vote via email; both must agree to proceed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Playbook: "Add to MARKET_CONFIG → Seed DB row → Deploy Netlify site"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What’s Live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011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 (Lancaster PA live, Cumberland County PA beta)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iOS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487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Published on App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626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Web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6265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tastelanc.com + cumberland.tastelanc.com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381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Restaurant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43814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Full owner portal: analytics, menus, events, happy hours, specials,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136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Revenue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9136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Stripe billing with 3 restaurant tiers, consumer subs, self-promoter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Ad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389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featured_ads with impression/click tracking + CTR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64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Sales CRM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864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Lead management, AI email generation, commission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400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AI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34009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Rosie chat, expansion agent (2h cycle), blog gen, email gen, itinerary 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155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81558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Custom Supabase: page views, impressions, clicks, check-ins, area visits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217920"/>
            <a:ext cx="10515600" cy="457200"/>
          </a:xfrm>
          <a:prstGeom prst="roundRect">
            <a:avLst>
              <a:gd name="adj" fmla="val 5000"/>
            </a:avLst>
          </a:prstGeom>
          <a:solidFill>
            <a:srgbClr val="2A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  <a:latin typeface="Calibri"/>
              </a:defRPr>
            </a:pPr>
            <a:r>
              <a:t>User counts, MRR, restaurant signups, and retention tracked in live dashboards. Available upon request.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41E22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1E22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Home Screen Personalization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737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RecommendedSection component built, not yet rendered on HomeScreen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IMPLEMENTATION_PLAN.md 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1E22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Impression-Feedback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68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Auto-correct visibility imbalances across restaurant tiers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IMPLEMENTATION_PLAN.md 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26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View All Sort/Filter Chips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200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Enhanced browse experience with sort and filter options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IMPLEMENTATION_PLAN.md Phase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Daily Trivia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931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Reward action type exists (1 pt), marked DEFERRED in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rewards/points.ts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Android Play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663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App buildable, listing not yet created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brand.ts:25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120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Self-Serve Restaurant Claiming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394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Currently sales-driven; self-service not yet built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Not in codebase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Calibri"/>
              </a:defRPr>
            </a:pPr>
            <a:r>
              <a:t>ONGOING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852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Autonomous City Expansion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6126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AI agent actively researching new markets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897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expansion-agent.ts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stelanc_new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457200"/>
            <a:ext cx="1828800" cy="1828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937760" y="2560320"/>
            <a:ext cx="2286000" cy="50800"/>
          </a:xfrm>
          <a:prstGeom prst="rect">
            <a:avLst/>
          </a:prstGeom>
          <a:solidFill>
            <a:srgbClr val="A4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Partner with us to scale the</a:t>
            </a:r>
            <a:br/>
            <a:r>
              <a:t>hyper-local playbook to new markets.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0233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800">
                <a:solidFill>
                  <a:srgbClr val="999999"/>
                </a:solidFill>
                <a:latin typeface="Calibri"/>
              </a:defRPr>
            </a:pPr>
            <a:r>
              <a:t>•  Strategic partners to accelerate market expansion</a:t>
            </a:r>
          </a:p>
          <a:p>
            <a:pPr algn="l">
              <a:spcBef>
                <a:spcPts val="800"/>
              </a:spcBef>
              <a:defRPr sz="1800">
                <a:solidFill>
                  <a:srgbClr val="999999"/>
                </a:solidFill>
                <a:latin typeface="Calibri"/>
              </a:defRPr>
            </a:pPr>
            <a:r>
              <a:t>•  Investment to scale the sales team and enter new markets</a:t>
            </a:r>
          </a:p>
          <a:p>
            <a:pPr algn="l">
              <a:spcBef>
                <a:spcPts val="800"/>
              </a:spcBef>
              <a:defRPr sz="1800">
                <a:solidFill>
                  <a:srgbClr val="999999"/>
                </a:solidFill>
                <a:latin typeface="Calibri"/>
              </a:defRPr>
            </a:pPr>
            <a:r>
              <a:t>•  Restaurant group partnerships for anchor tenant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669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tastelanc.com  ·  info@tastelanc.com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126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Generated from codebase — see /pitchdeck/README.md for source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